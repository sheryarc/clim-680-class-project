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IBM Plex Sans"/>
      <p:regular r:id="rId25"/>
      <p:bold r:id="rId26"/>
      <p:italic r:id="rId27"/>
      <p:boldItalic r:id="rId28"/>
    </p:embeddedFont>
    <p:embeddedFont>
      <p:font typeface="Sora SemiBold"/>
      <p:regular r:id="rId29"/>
      <p:bold r:id="rId30"/>
    </p:embeddedFont>
    <p:embeddedFont>
      <p:font typeface="IBM Plex Sans Medium"/>
      <p:regular r:id="rId31"/>
      <p:bold r:id="rId32"/>
      <p:italic r:id="rId33"/>
      <p:boldItalic r:id="rId34"/>
    </p:embeddedFont>
    <p:embeddedFont>
      <p:font typeface="Sora Light"/>
      <p:regular r:id="rId35"/>
      <p:bold r:id="rId36"/>
    </p:embeddedFont>
    <p:embeddedFont>
      <p:font typeface="Sora ExtraLight"/>
      <p:regular r:id="rId37"/>
      <p:bold r:id="rId38"/>
    </p:embeddedFont>
    <p:embeddedFont>
      <p:font typeface="Sora"/>
      <p:regular r:id="rId39"/>
      <p:bold r:id="rId40"/>
    </p:embeddedFont>
    <p:embeddedFont>
      <p:font typeface="Sora Medium"/>
      <p:regular r:id="rId41"/>
      <p:bold r:id="rId42"/>
    </p:embeddedFont>
    <p:embeddedFont>
      <p:font typeface="IBM Plex Sans SemiBold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-bold.fntdata"/><Relationship Id="rId42" Type="http://schemas.openxmlformats.org/officeDocument/2006/relationships/font" Target="fonts/SoraMedium-bold.fntdata"/><Relationship Id="rId41" Type="http://schemas.openxmlformats.org/officeDocument/2006/relationships/font" Target="fonts/SoraMedium-regular.fntdata"/><Relationship Id="rId44" Type="http://schemas.openxmlformats.org/officeDocument/2006/relationships/font" Target="fonts/IBMPlexSansSemiBold-bold.fntdata"/><Relationship Id="rId43" Type="http://schemas.openxmlformats.org/officeDocument/2006/relationships/font" Target="fonts/IBMPlexSansSemiBold-regular.fntdata"/><Relationship Id="rId46" Type="http://schemas.openxmlformats.org/officeDocument/2006/relationships/font" Target="fonts/IBMPlexSansSemiBold-boldItalic.fntdata"/><Relationship Id="rId45" Type="http://schemas.openxmlformats.org/officeDocument/2006/relationships/font" Target="fonts/IBMPlexSansSemiBold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BMPlexSansMedium-regular.fntdata"/><Relationship Id="rId30" Type="http://schemas.openxmlformats.org/officeDocument/2006/relationships/font" Target="fonts/SoraSemiBold-bold.fntdata"/><Relationship Id="rId33" Type="http://schemas.openxmlformats.org/officeDocument/2006/relationships/font" Target="fonts/IBMPlexSansMedium-italic.fntdata"/><Relationship Id="rId32" Type="http://schemas.openxmlformats.org/officeDocument/2006/relationships/font" Target="fonts/IBMPlexSansMedium-bold.fntdata"/><Relationship Id="rId35" Type="http://schemas.openxmlformats.org/officeDocument/2006/relationships/font" Target="fonts/SoraLight-regular.fntdata"/><Relationship Id="rId34" Type="http://schemas.openxmlformats.org/officeDocument/2006/relationships/font" Target="fonts/IBMPlexSansMedium-boldItalic.fntdata"/><Relationship Id="rId37" Type="http://schemas.openxmlformats.org/officeDocument/2006/relationships/font" Target="fonts/SoraExtraLight-regular.fntdata"/><Relationship Id="rId36" Type="http://schemas.openxmlformats.org/officeDocument/2006/relationships/font" Target="fonts/SoraLight-bold.fntdata"/><Relationship Id="rId39" Type="http://schemas.openxmlformats.org/officeDocument/2006/relationships/font" Target="fonts/Sora-regular.fntdata"/><Relationship Id="rId38" Type="http://schemas.openxmlformats.org/officeDocument/2006/relationships/font" Target="fonts/SoraExtraLight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font" Target="fonts/IBMPlexSans-bold.fntdata"/><Relationship Id="rId25" Type="http://schemas.openxmlformats.org/officeDocument/2006/relationships/font" Target="fonts/IBMPlexSans-regular.fntdata"/><Relationship Id="rId28" Type="http://schemas.openxmlformats.org/officeDocument/2006/relationships/font" Target="fonts/IBMPlexSans-boldItalic.fntdata"/><Relationship Id="rId27" Type="http://schemas.openxmlformats.org/officeDocument/2006/relationships/font" Target="fonts/IBMPlexSans-italic.fntdata"/><Relationship Id="rId29" Type="http://schemas.openxmlformats.org/officeDocument/2006/relationships/font" Target="fonts/Sora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3ad680ede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3ad680ede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3ad680edeee_0_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3ad680edeee_0_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ad680edeee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8" name="Google Shape;908;g3ad680edeee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g3ad680edeee_0_9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3ad680edeee_0_9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ad680edeee_0_9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ad680edeee_0_9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ad680edeee_0_9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ad680edeee_0_9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3ad680edeee_0_10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5" name="Google Shape;935;g3ad680edeee_0_10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3ad680edeee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3ad680edeee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Google Shape;947;g3ad680edeee_0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8" name="Google Shape;948;g3ad680edeee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ad680edeee_0_10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ad680edeee_0_10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3ad680edeee_0_10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3ad680edeee_0_10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9" name="Shape 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Google Shape;970;g3ad680edeee_0_1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1" name="Google Shape;971;g3ad680edeee_0_1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g3ad680edeee_0_1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8" name="Google Shape;978;g3ad680edeee_0_1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3ad680edeee_0_10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3ad680edeee_0_10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g3ad680edeee_0_1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0" name="Google Shape;990;g3ad680edeee_0_1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3ad680edeee_0_1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0" name="Google Shape;1000;g3ad680edeee_0_1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3ad680edeee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3ad680edeee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g3ad680edeee_0_1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3ad680edeee_0_1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3ad680edeee_0_1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3ad680edeee_0_1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" name="Google Shape;12;p2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" name="Google Shape;13;p2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5" name="Google Shape;15;p2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6" name="Google Shape;16;p2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7" name="Google Shape;17;p2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8" name="Google Shape;18;p2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9" name="Google Shape;19;p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" name="Google Shape;20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3" name="Google Shape;23;p2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24" name="Google Shape;2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5" name="Google Shape;25;p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6" name="Google Shape;26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7" name="Google Shape;27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8" name="Google Shape;28;p2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9" name="Google Shape;29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0" name="Google Shape;30;p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33" name="Google Shape;33;p2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34" name="Google Shape;34;p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36" name="Google Shape;36;p2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37" name="Google Shape;37;p2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3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0" name="Google Shape;40;p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1" name="Google Shape;41;p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2" name="Google Shape;42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3" name="Google Shape;43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4" name="Google Shape;44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5" name="Google Shape;45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6" name="Google Shape;46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7" name="Google Shape;47;p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" name="Google Shape;48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" name="Google Shape;53;p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" name="Google Shape;54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9" name="Google Shape;59;p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0" name="Google Shape;60;p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3" name="Google Shape;63;p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4" name="Google Shape;64;p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65" name="Google Shape;65;p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" name="Google Shape;66;p3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8" name="Google Shape;68;p3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" name="Google Shape;69;p3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" name="Google Shape;70;p3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3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3" name="Google Shape;73;p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4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76" name="Google Shape;76;p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77" name="Google Shape;77;p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3" name="Google Shape;83;p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4" name="Google Shape;84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5" name="Google Shape;85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6" name="Google Shape;86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7" name="Google Shape;87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9" name="Google Shape;89;p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0" name="Google Shape;90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2" name="Google Shape;92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3" name="Google Shape;93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5" name="Google Shape;95;p4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" name="Google Shape;96;p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" name="Google Shape;98;p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" name="Google Shape;99;p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1" name="Google Shape;101;p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2" name="Google Shape;102;p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" name="Google Shape;103;p4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4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7" name="Google Shape;107;p4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8" name="Google Shape;108;p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11" name="Google Shape;111;p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12" name="Google Shape;112;p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3" name="Google Shape;113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4" name="Google Shape;114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5" name="Google Shape;115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6" name="Google Shape;116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17" name="Google Shape;117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18" name="Google Shape;118;p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19" name="Google Shape;119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0" name="Google Shape;120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" name="Google Shape;121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" name="Google Shape;122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" name="Google Shape;123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4" name="Google Shape;124;p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5" name="Google Shape;125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8" name="Google Shape;128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9" name="Google Shape;129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0" name="Google Shape;130;p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1" name="Google Shape;131;p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4" name="Google Shape;134;p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" name="Google Shape;135;p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6" name="Google Shape;136;p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37" name="Google Shape;137;p5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38" name="Google Shape;138;p5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3" name="Google Shape;143;p5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4" name="Google Shape;14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" name="Google Shape;148;p5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9" name="Google Shape;149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58" name="Google Shape;158;p5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59" name="Google Shape;159;p5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60" name="Google Shape;160;p5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61" name="Google Shape;161;p5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62" name="Google Shape;162;p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3" name="Google Shape;163;p5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4" name="Google Shape;164;p5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" name="Google Shape;165;p5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" name="Google Shape;168;p6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9" name="Google Shape;169;p6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" name="Google Shape;170;p6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1" name="Google Shape;171;p6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2" name="Google Shape;172;p6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73" name="Google Shape;173;p6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6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6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6" name="Google Shape;176;p6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7" name="Google Shape;177;p6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" name="Google Shape;178;p6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79" name="Google Shape;179;p6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80" name="Google Shape;180;p6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81" name="Google Shape;181;p6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6" name="Google Shape;186;p7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" name="Google Shape;188;p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" name="Google Shape;189;p7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90" name="Google Shape;190;p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" name="Google Shape;191;p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94" name="Google Shape;194;p8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95" name="Google Shape;195;p8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96" name="Google Shape;196;p8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" name="Google Shape;202;p8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03" name="Google Shape;203;p8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" name="Google Shape;206;p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" name="Google Shape;207;p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08" name="Google Shape;208;p8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9" name="Google Shape;209;p8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8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1" name="Google Shape;211;p8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2" name="Google Shape;212;p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3" name="Google Shape;213;p8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4" name="Google Shape;214;p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7" name="Google Shape;217;p9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8" name="Google Shape;218;p9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19" name="Google Shape;219;p9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" name="Google Shape;220;p9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0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23" name="Google Shape;223;p1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24" name="Google Shape;224;p1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5" name="Google Shape;225;p1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6" name="Google Shape;226;p1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7" name="Google Shape;227;p1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28" name="Google Shape;228;p1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29" name="Google Shape;229;p1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1" name="Google Shape;231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2" name="Google Shape;232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3" name="Google Shape;233;p1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34" name="Google Shape;234;p1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35" name="Google Shape;235;p1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6" name="Google Shape;236;p1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7" name="Google Shape;237;p1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38" name="Google Shape;238;p1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39" name="Google Shape;239;p1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0" name="Google Shape;240;p10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41" name="Google Shape;241;p1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44" name="Google Shape;244;p11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45" name="Google Shape;245;p11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46" name="Google Shape;246;p11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49" name="Google Shape;249;p11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1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11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11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11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4" name="Google Shape;254;p11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5" name="Google Shape;255;p11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256" name="Google Shape;256;p11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57" name="Google Shape;257;p11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58" name="Google Shape;258;p11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262" name="Google Shape;262;p12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264" name="Google Shape;264;p12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12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6" name="Google Shape;266;p12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12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12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12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2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1" name="Google Shape;271;p12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72" name="Google Shape;272;p12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3" name="Google Shape;273;p1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74" name="Google Shape;274;p12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75" name="Google Shape;275;p12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78" name="Google Shape;278;p13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279" name="Google Shape;279;p13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80" name="Google Shape;280;p13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281" name="Google Shape;281;p13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2" name="Google Shape;282;p13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3" name="Google Shape;283;p13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4" name="Google Shape;284;p13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13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286" name="Google Shape;286;p13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7" name="Google Shape;287;p13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90" name="Google Shape;290;p14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291" name="Google Shape;291;p14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292" name="Google Shape;292;p14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293" name="Google Shape;29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4" name="Google Shape;29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5" name="Google Shape;29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6" name="Google Shape;296;p14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97" name="Google Shape;297;p14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298" name="Google Shape;298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99" name="Google Shape;299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0" name="Google Shape;300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1" name="Google Shape;301;p14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02" name="Google Shape;302;p14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03" name="Google Shape;303;p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4" name="Google Shape;304;p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5" name="Google Shape;305;p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06" name="Google Shape;306;p14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07" name="Google Shape;307;p14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08" name="Google Shape;308;p14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09" name="Google Shape;309;p14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14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1" name="Google Shape;311;p1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2" name="Google Shape;312;p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5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15" name="Google Shape;315;p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15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0" name="Google Shape;320;p16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1" name="Google Shape;321;p16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2" name="Google Shape;322;p16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3" name="Google Shape;323;p16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4" name="Google Shape;324;p16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5" name="Google Shape;325;p16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26" name="Google Shape;326;p1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16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8" name="Google Shape;328;p16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29" name="Google Shape;329;p16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0" name="Google Shape;330;p16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1" name="Google Shape;331;p16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2" name="Google Shape;332;p16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3" name="Google Shape;333;p16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4" name="Google Shape;334;p16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35" name="Google Shape;335;p16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6" name="Google Shape;336;p16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7" name="Google Shape;337;p16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38" name="Google Shape;338;p16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39" name="Google Shape;339;p16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7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42" name="Google Shape;342;p17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4" name="Google Shape;344;p17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5" name="Google Shape;345;p17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46" name="Google Shape;346;p17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7" name="Google Shape;347;p17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8" name="Google Shape;348;p17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49" name="Google Shape;349;p17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0" name="Google Shape;350;p17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51" name="Google Shape;351;p17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2" name="Google Shape;352;p17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3" name="Google Shape;353;p17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4" name="Google Shape;354;p17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5" name="Google Shape;355;p17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6" name="Google Shape;356;p17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7" name="Google Shape;357;p17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8" name="Google Shape;358;p17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0" name="Google Shape;360;p17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1" name="Google Shape;361;p17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8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4" name="Google Shape;364;p18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18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66" name="Google Shape;366;p18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367" name="Google Shape;367;p18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368" name="Google Shape;368;p18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69" name="Google Shape;369;p18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0" name="Google Shape;370;p18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1" name="Google Shape;371;p18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2" name="Google Shape;372;p18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3" name="Google Shape;373;p18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374" name="Google Shape;374;p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5" name="Google Shape;375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6" name="Google Shape;376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77" name="Google Shape;377;p18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78" name="Google Shape;378;p18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379" name="Google Shape;379;p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0" name="Google Shape;380;p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1" name="Google Shape;381;p1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82" name="Google Shape;382;p1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83" name="Google Shape;383;p18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4" name="Google Shape;384;p18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5" name="Google Shape;385;p18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18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7" name="Google Shape;387;p18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388" name="Google Shape;388;p18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89" name="Google Shape;389;p18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0" name="Google Shape;390;p18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1" name="Google Shape;391;p18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92" name="Google Shape;392;p18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3" name="Google Shape;393;p18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394" name="Google Shape;394;p18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5" name="Google Shape;395;p18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96" name="Google Shape;396;p18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9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9" name="Google Shape;399;p19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0" name="Google Shape;400;p19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1" name="Google Shape;401;p19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2" name="Google Shape;402;p19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3" name="Google Shape;403;p19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04" name="Google Shape;404;p19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5" name="Google Shape;405;p19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6" name="Google Shape;406;p19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7" name="Google Shape;407;p19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8" name="Google Shape;408;p19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09" name="Google Shape;409;p19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0" name="Google Shape;410;p19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1" name="Google Shape;411;p19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2" name="Google Shape;412;p19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3" name="Google Shape;413;p19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14" name="Google Shape;414;p19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15" name="Google Shape;415;p19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0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18" name="Google Shape;418;p20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19" name="Google Shape;419;p20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20" name="Google Shape;420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1" name="Google Shape;421;p20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2" name="Google Shape;422;p20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3" name="Google Shape;423;p20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4" name="Google Shape;424;p20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5" name="Google Shape;425;p20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26" name="Google Shape;426;p20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7" name="Google Shape;427;p20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8" name="Google Shape;428;p20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29" name="Google Shape;429;p20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0" name="Google Shape;430;p20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1" name="Google Shape;431;p20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3" name="Google Shape;433;p21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34" name="Google Shape;434;p21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35" name="Google Shape;435;p21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6" name="Google Shape;436;p21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7" name="Google Shape;437;p21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8" name="Google Shape;438;p21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39" name="Google Shape;439;p21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0" name="Google Shape;440;p21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41" name="Google Shape;441;p21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2" name="Google Shape;442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3" name="Google Shape;443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4" name="Google Shape;444;p21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45" name="Google Shape;445;p21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46" name="Google Shape;446;p2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7" name="Google Shape;447;p2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8" name="Google Shape;448;p2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49" name="Google Shape;449;p2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50" name="Google Shape;450;p2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21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2" name="Google Shape;452;p21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53" name="Google Shape;453;p21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54" name="Google Shape;454;p21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55" name="Google Shape;455;p21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456" name="Google Shape;456;p2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2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59" name="Google Shape;459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60" name="Google Shape;460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65" name="Google Shape;465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66" name="Google Shape;466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70" name="Google Shape;470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71" name="Google Shape;471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2" name="Google Shape;472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3" name="Google Shape;473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74" name="Google Shape;474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75" name="Google Shape;475;p22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6" name="Google Shape;476;p22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7" name="Google Shape;477;p22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78" name="Google Shape;478;p22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479" name="Google Shape;479;p22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22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22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2" name="Google Shape;482;p22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3" name="Google Shape;483;p22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4" name="Google Shape;484;p22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5" name="Google Shape;485;p22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6" name="Google Shape;486;p22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7" name="Google Shape;487;p22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88" name="Google Shape;488;p22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89" name="Google Shape;489;p22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0" name="Google Shape;490;p22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1" name="Google Shape;491;p22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92" name="Google Shape;492;p22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3" name="Google Shape;493;p2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p23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496" name="Google Shape;496;p23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497" name="Google Shape;497;p23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498" name="Google Shape;498;p23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9" name="Google Shape;499;p23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0" name="Google Shape;500;p23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1" name="Google Shape;501;p23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23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3" name="Google Shape;503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4" name="Google Shape;50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6" name="Google Shape;50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7" name="Google Shape;50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9" name="Google Shape;509;p23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10" name="Google Shape;510;p23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2" name="Google Shape;51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3" name="Google Shape;51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5" name="Google Shape;515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6" name="Google Shape;51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8" name="Google Shape;518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9" name="Google Shape;519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0" name="Google Shape;520;p23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21" name="Google Shape;521;p23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22" name="Google Shape;522;p23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23" name="Google Shape;523;p23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24" name="Google Shape;524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5" name="Google Shape;525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6" name="Google Shape;526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7" name="Google Shape;527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8" name="Google Shape;528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29" name="Google Shape;529;p23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0" name="Google Shape;530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1" name="Google Shape;531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2" name="Google Shape;532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3" name="Google Shape;533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4" name="Google Shape;534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35" name="Google Shape;535;p23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6" name="Google Shape;536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7" name="Google Shape;537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1" name="Google Shape;541;p23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2" name="Google Shape;542;p23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3" name="Google Shape;543;p23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23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23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23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47" name="Google Shape;547;p23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48" name="Google Shape;548;p23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49" name="Google Shape;549;p23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50" name="Google Shape;550;p23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1" name="Google Shape;551;p23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2" name="Google Shape;552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3" name="Google Shape;553;p23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54" name="Google Shape;554;p23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5" name="Google Shape;555;p23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6" name="Google Shape;556;p23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7" name="Google Shape;557;p23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58" name="Google Shape;558;p23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59" name="Google Shape;559;p23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0" name="Google Shape;560;p23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1" name="Google Shape;561;p23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2" name="Google Shape;562;p23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3" name="Google Shape;563;p23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64" name="Google Shape;564;p23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4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7" name="Google Shape;567;p24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24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69" name="Google Shape;569;p24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0" name="Google Shape;570;p24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1" name="Google Shape;571;p24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2" name="Google Shape;572;p24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3" name="Google Shape;573;p24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574" name="Google Shape;574;p2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75" name="Google Shape;575;p24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6" name="Google Shape;576;p24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77" name="Google Shape;577;p24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8" name="Google Shape;578;p24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79" name="Google Shape;579;p24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0" name="Google Shape;580;p24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1" name="Google Shape;581;p24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2" name="Google Shape;582;p24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83" name="Google Shape;583;p24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5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6" name="Google Shape;586;p25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87" name="Google Shape;587;p25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88" name="Google Shape;588;p25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9" name="Google Shape;589;p25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90" name="Google Shape;590;p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1" name="Google Shape;591;p25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2" name="Google Shape;592;p25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4" name="Google Shape;594;p26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595" name="Google Shape;595;p26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596" name="Google Shape;596;p26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7" name="Google Shape;597;p26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598" name="Google Shape;598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599" name="Google Shape;599;p26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00" name="Google Shape;600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1" name="Google Shape;601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2" name="Google Shape;602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3" name="Google Shape;603;p26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04" name="Google Shape;604;p26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5" name="Google Shape;605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6" name="Google Shape;606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07" name="Google Shape;607;p26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08" name="Google Shape;608;p26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09" name="Google Shape;60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10" name="Google Shape;610;p26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11" name="Google Shape;611;p2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12" name="Google Shape;612;p26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3" name="Google Shape;613;p26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14" name="Google Shape;614;p26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15" name="Google Shape;615;p26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16" name="Google Shape;616;p26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7" name="Google Shape;617;p26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8" name="Google Shape;618;p26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19" name="Google Shape;619;p26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0" name="Google Shape;620;p26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1" name="Google Shape;621;p26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22" name="Google Shape;622;p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" name="Google Shape;624;p27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25" name="Google Shape;625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26" name="Google Shape;626;p27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27" name="Google Shape;627;p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28" name="Google Shape;628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29" name="Google Shape;629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30" name="Google Shape;630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1" name="Google Shape;631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2" name="Google Shape;632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33" name="Google Shape;633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34" name="Google Shape;63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35" name="Google Shape;63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36" name="Google Shape;636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37" name="Google Shape;637;p27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38" name="Google Shape;638;p27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39" name="Google Shape;639;p27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0" name="Google Shape;640;p27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1" name="Google Shape;641;p27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2" name="Google Shape;642;p27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3" name="Google Shape;643;p27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4" name="Google Shape;644;p27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45" name="Google Shape;645;p27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46" name="Google Shape;646;p27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47" name="Google Shape;647;p27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48" name="Google Shape;648;p27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49" name="Google Shape;649;p27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50" name="Google Shape;650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1" name="Google Shape;651;p27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52" name="Google Shape;652;p27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53" name="Google Shape;653;p27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54" name="Google Shape;654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5" name="Google Shape;655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6" name="Google Shape;656;p27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57" name="Google Shape;657;p27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58" name="Google Shape;658;p27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59" name="Google Shape;659;p27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60" name="Google Shape;660;p27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1" name="Google Shape;661;p27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2" name="Google Shape;662;p27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63" name="Google Shape;663;p27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664" name="Google Shape;664;p27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5" name="Google Shape;665;p27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6" name="Google Shape;666;p27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7" name="Google Shape;667;p27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68" name="Google Shape;668;p27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69" name="Google Shape;669;p27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0" name="Google Shape;670;p27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1" name="Google Shape;671;p27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2" name="Google Shape;672;p27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28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5" name="Google Shape;675;p28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6" name="Google Shape;676;p28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77" name="Google Shape;677;p28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678" name="Google Shape;678;p28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679" name="Google Shape;679;p28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680" name="Google Shape;680;p28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1" name="Google Shape;681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2" name="Google Shape;682;p28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683" name="Google Shape;683;p28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7" name="Google Shape;687;p28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688" name="Google Shape;688;p2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9" name="Google Shape;689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1" name="Google Shape;691;p28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692" name="Google Shape;692;p28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3" name="Google Shape;693;p28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4" name="Google Shape;694;p2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28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28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7" name="Google Shape;697;p28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8" name="Google Shape;698;p28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99" name="Google Shape;699;p28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0" name="Google Shape;700;p28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01" name="Google Shape;701;p2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2" name="Google Shape;702;p28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03" name="Google Shape;703;p28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04" name="Google Shape;704;p28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5" name="Google Shape;705;p28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6" name="Google Shape;706;p28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7" name="Google Shape;707;p28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8" name="Google Shape;708;p2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9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1" name="Google Shape;711;p29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2" name="Google Shape;712;p29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3" name="Google Shape;713;p29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14" name="Google Shape;714;p29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15" name="Google Shape;715;p2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16" name="Google Shape;716;p2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17" name="Google Shape;717;p29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18" name="Google Shape;718;p29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19" name="Google Shape;719;p29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0" name="Google Shape;720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1" name="Google Shape;721;p29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2" name="Google Shape;722;p29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3" name="Google Shape;723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4" name="Google Shape;724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5" name="Google Shape;72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6" name="Google Shape;726;p29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27" name="Google Shape;727;p2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8" name="Google Shape;728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0" name="Google Shape;730;p29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1" name="Google Shape;731;p29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2" name="Google Shape;732;p29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3" name="Google Shape;733;p2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2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29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36" name="Google Shape;736;p29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7" name="Google Shape;737;p29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8" name="Google Shape;738;p29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39" name="Google Shape;739;p29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0" name="Google Shape;740;p29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1" name="Google Shape;741;p29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2" name="Google Shape;742;p29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3" name="Google Shape;743;p29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44" name="Google Shape;744;p29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5" name="Google Shape;745;p29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6" name="Google Shape;746;p29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7" name="Google Shape;747;p29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48" name="Google Shape;748;p29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49" name="Google Shape;749;p2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0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52" name="Google Shape;752;p30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53" name="Google Shape;753;p30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54" name="Google Shape;754;p30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755" name="Google Shape;755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6" name="Google Shape;756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7" name="Google Shape;757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8" name="Google Shape;758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59" name="Google Shape;759;p30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60" name="Google Shape;760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1" name="Google Shape;76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2" name="Google Shape;76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3" name="Google Shape;76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4" name="Google Shape;76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65" name="Google Shape;765;p30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766" name="Google Shape;766;p30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7" name="Google Shape;767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8" name="Google Shape;768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9" name="Google Shape;769;p30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70" name="Google Shape;770;p30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771" name="Google Shape;771;p30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2" name="Google Shape;772;p30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3" name="Google Shape;773;p30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4" name="Google Shape;774;p30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775" name="Google Shape;775;p30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76" name="Google Shape;776;p30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7" name="Google Shape;777;p30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8" name="Google Shape;778;p30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779" name="Google Shape;779;p30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0" name="Google Shape;780;p30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1" name="Google Shape;781;p30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2" name="Google Shape;782;p30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3" name="Google Shape;783;p30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4" name="Google Shape;784;p30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5" name="Google Shape;785;p30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3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89" name="Google Shape;789;p3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3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4" name="Google Shape;79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97" name="Google Shape;797;p3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798" name="Google Shape;798;p3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3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03" name="Google Shape;803;p3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3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8" name="Google Shape;808;p3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09" name="Google Shape;809;p3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10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p3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4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15" name="Google Shape;815;p4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6" name="Google Shape;816;p4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7" name="Google Shape;817;p4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8" name="Google Shape;818;p4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19" name="Google Shape;819;p4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20" name="Google Shape;820;p4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3" name="Google Shape;823;p4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4" name="Google Shape;824;p4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27" name="Google Shape;827;p4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8" name="Google Shape;828;p4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29" name="Google Shape;829;p4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0" name="Google Shape;830;p4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4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3" name="Google Shape;833;p4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34" name="Google Shape;834;p4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5" name="Google Shape;835;p4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6" name="Google Shape;836;p4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7" name="Google Shape;837;p4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38" name="Google Shape;838;p4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1" name="Google Shape;841;p4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2" name="Google Shape;842;p4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4" name="Google Shape;844;p4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5" name="Google Shape;845;p4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6" name="Google Shape;846;p4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7" name="Google Shape;847;p4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48" name="Google Shape;848;p4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1" name="Google Shape;851;p4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4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4" name="Google Shape;854;p4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5" name="Google Shape;855;p4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856" name="Google Shape;856;p4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57" name="Google Shape;857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8" name="Google Shape;858;p4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9" name="Google Shape;859;p4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4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2" name="Google Shape;862;p4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3" name="Google Shape;863;p4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4" name="Google Shape;864;p4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5" name="Google Shape;865;p4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866" name="Google Shape;866;p4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7" name="Google Shape;867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4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9" name="Google Shape;869;p4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0" name="Google Shape;870;p4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5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5" name="Google Shape;875;p5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6" name="Google Shape;876;p5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7" name="Google Shape;877;p5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8" name="Google Shape;878;p5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79" name="Google Shape;879;p5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0" name="Google Shape;880;p5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1" name="Google Shape;881;p5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2" name="Google Shape;882;p5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883" name="Google Shape;883;p5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ds.climate.copernicus.eu/datasets/reanalysis-era5-single-levels-monthly-means?tab=overview" TargetMode="External"/><Relationship Id="rId4" Type="http://schemas.openxmlformats.org/officeDocument/2006/relationships/hyperlink" Target="https://psl.noaa.gov/data/gridded/data.gpcp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51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Sheryar Choudhry</a:t>
            </a:r>
            <a:endParaRPr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ra"/>
                <a:ea typeface="Sora"/>
                <a:cs typeface="Sora"/>
                <a:sym typeface="Sora"/>
              </a:rPr>
              <a:t>CLIM 680 Class Project</a:t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89" name="Google Shape;889;p51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</a:rPr>
              <a:t>Stochastic Analysis of Observational and Reanalysis Precipitation Using a VARX Model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idx="3" type="title"/>
          </p:nvPr>
        </p:nvSpPr>
        <p:spPr>
          <a:xfrm>
            <a:off x="107625" y="457200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895" name="Google Shape;895;p52"/>
          <p:cNvSpPr txBox="1"/>
          <p:nvPr>
            <p:ph type="title"/>
          </p:nvPr>
        </p:nvSpPr>
        <p:spPr>
          <a:xfrm>
            <a:off x="38100" y="93150"/>
            <a:ext cx="1765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CLIM 680 Class Project</a:t>
            </a:r>
            <a:endParaRPr/>
          </a:p>
        </p:txBody>
      </p:sp>
      <p:sp>
        <p:nvSpPr>
          <p:cNvPr id="896" name="Google Shape;896;p52"/>
          <p:cNvSpPr txBox="1"/>
          <p:nvPr>
            <p:ph idx="5" type="subTitle"/>
          </p:nvPr>
        </p:nvSpPr>
        <p:spPr>
          <a:xfrm>
            <a:off x="2216999" y="4082914"/>
            <a:ext cx="2138400" cy="286500"/>
          </a:xfrm>
          <a:prstGeom prst="rect">
            <a:avLst/>
          </a:prstGeom>
        </p:spPr>
        <p:txBody>
          <a:bodyPr anchorCtr="0" anchor="t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31"/>
              <a:t>5</a:t>
            </a:r>
            <a:r>
              <a:rPr b="0" lang="en" sz="2631"/>
              <a:t>.</a:t>
            </a:r>
            <a:endParaRPr b="0" sz="2631"/>
          </a:p>
        </p:txBody>
      </p:sp>
      <p:sp>
        <p:nvSpPr>
          <p:cNvPr id="897" name="Google Shape;897;p52"/>
          <p:cNvSpPr txBox="1"/>
          <p:nvPr>
            <p:ph idx="6" type="subTitle"/>
          </p:nvPr>
        </p:nvSpPr>
        <p:spPr>
          <a:xfrm>
            <a:off x="2703675" y="3499925"/>
            <a:ext cx="5989500" cy="494100"/>
          </a:xfrm>
          <a:prstGeom prst="rect">
            <a:avLst/>
          </a:prstGeom>
        </p:spPr>
        <p:txBody>
          <a:bodyPr anchorCtr="0" anchor="b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4"/>
              <a:t>Applying VARX Model Fits to Datasets</a:t>
            </a:r>
            <a:endParaRPr sz="2054"/>
          </a:p>
        </p:txBody>
      </p:sp>
      <p:sp>
        <p:nvSpPr>
          <p:cNvPr id="898" name="Google Shape;898;p52"/>
          <p:cNvSpPr txBox="1"/>
          <p:nvPr>
            <p:ph idx="7" type="subTitle"/>
          </p:nvPr>
        </p:nvSpPr>
        <p:spPr>
          <a:xfrm>
            <a:off x="2216999" y="3459743"/>
            <a:ext cx="2138400" cy="286500"/>
          </a:xfrm>
          <a:prstGeom prst="rect">
            <a:avLst/>
          </a:prstGeom>
        </p:spPr>
        <p:txBody>
          <a:bodyPr anchorCtr="0" anchor="t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31"/>
              <a:t>4</a:t>
            </a:r>
            <a:r>
              <a:rPr b="0" lang="en" sz="2631"/>
              <a:t>.</a:t>
            </a:r>
            <a:endParaRPr b="0" sz="2631"/>
          </a:p>
        </p:txBody>
      </p:sp>
      <p:sp>
        <p:nvSpPr>
          <p:cNvPr id="899" name="Google Shape;899;p52"/>
          <p:cNvSpPr txBox="1"/>
          <p:nvPr>
            <p:ph idx="8" type="subTitle"/>
          </p:nvPr>
        </p:nvSpPr>
        <p:spPr>
          <a:xfrm>
            <a:off x="2618650" y="2605012"/>
            <a:ext cx="5782500" cy="711600"/>
          </a:xfrm>
          <a:prstGeom prst="rect">
            <a:avLst/>
          </a:prstGeom>
        </p:spPr>
        <p:txBody>
          <a:bodyPr anchorCtr="0" anchor="b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4"/>
              <a:t>Vector Autoregessive Model with Exogeneous Variables (VARX)</a:t>
            </a:r>
            <a:endParaRPr sz="2054"/>
          </a:p>
        </p:txBody>
      </p:sp>
      <p:sp>
        <p:nvSpPr>
          <p:cNvPr id="900" name="Google Shape;900;p52"/>
          <p:cNvSpPr txBox="1"/>
          <p:nvPr>
            <p:ph idx="9" type="subTitle"/>
          </p:nvPr>
        </p:nvSpPr>
        <p:spPr>
          <a:xfrm>
            <a:off x="2216999" y="2500359"/>
            <a:ext cx="2138400" cy="286500"/>
          </a:xfrm>
          <a:prstGeom prst="rect">
            <a:avLst/>
          </a:prstGeom>
        </p:spPr>
        <p:txBody>
          <a:bodyPr anchorCtr="0" anchor="t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31"/>
              <a:t>3.</a:t>
            </a:r>
            <a:endParaRPr b="0" sz="2631"/>
          </a:p>
        </p:txBody>
      </p:sp>
      <p:sp>
        <p:nvSpPr>
          <p:cNvPr id="901" name="Google Shape;901;p52"/>
          <p:cNvSpPr txBox="1"/>
          <p:nvPr>
            <p:ph idx="13" type="subTitle"/>
          </p:nvPr>
        </p:nvSpPr>
        <p:spPr>
          <a:xfrm>
            <a:off x="2642049" y="1901762"/>
            <a:ext cx="5735700" cy="400200"/>
          </a:xfrm>
          <a:prstGeom prst="rect">
            <a:avLst/>
          </a:prstGeom>
        </p:spPr>
        <p:txBody>
          <a:bodyPr anchorCtr="0" anchor="b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4"/>
              <a:t>Preparing the Data</a:t>
            </a:r>
            <a:endParaRPr sz="2054"/>
          </a:p>
        </p:txBody>
      </p:sp>
      <p:sp>
        <p:nvSpPr>
          <p:cNvPr id="902" name="Google Shape;902;p52"/>
          <p:cNvSpPr txBox="1"/>
          <p:nvPr>
            <p:ph idx="14" type="subTitle"/>
          </p:nvPr>
        </p:nvSpPr>
        <p:spPr>
          <a:xfrm>
            <a:off x="2216999" y="1731355"/>
            <a:ext cx="2138400" cy="286500"/>
          </a:xfrm>
          <a:prstGeom prst="rect">
            <a:avLst/>
          </a:prstGeom>
        </p:spPr>
        <p:txBody>
          <a:bodyPr anchorCtr="0" anchor="t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31"/>
              <a:t>2</a:t>
            </a:r>
            <a:r>
              <a:rPr b="0" lang="en" sz="2631"/>
              <a:t>.</a:t>
            </a:r>
            <a:endParaRPr b="0" sz="2631"/>
          </a:p>
        </p:txBody>
      </p:sp>
      <p:sp>
        <p:nvSpPr>
          <p:cNvPr id="903" name="Google Shape;903;p52"/>
          <p:cNvSpPr txBox="1"/>
          <p:nvPr>
            <p:ph idx="15" type="subTitle"/>
          </p:nvPr>
        </p:nvSpPr>
        <p:spPr>
          <a:xfrm>
            <a:off x="2642049" y="1137107"/>
            <a:ext cx="5735700" cy="400200"/>
          </a:xfrm>
          <a:prstGeom prst="rect">
            <a:avLst/>
          </a:prstGeom>
        </p:spPr>
        <p:txBody>
          <a:bodyPr anchorCtr="0" anchor="b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4"/>
              <a:t>Introduction</a:t>
            </a:r>
            <a:endParaRPr sz="2054"/>
          </a:p>
        </p:txBody>
      </p:sp>
      <p:sp>
        <p:nvSpPr>
          <p:cNvPr id="904" name="Google Shape;904;p52"/>
          <p:cNvSpPr txBox="1"/>
          <p:nvPr>
            <p:ph idx="16" type="subTitle"/>
          </p:nvPr>
        </p:nvSpPr>
        <p:spPr>
          <a:xfrm>
            <a:off x="2216999" y="962350"/>
            <a:ext cx="2138400" cy="286500"/>
          </a:xfrm>
          <a:prstGeom prst="rect">
            <a:avLst/>
          </a:prstGeom>
        </p:spPr>
        <p:txBody>
          <a:bodyPr anchorCtr="0" anchor="t" bIns="132025" lIns="0" spcFirstLastPara="1" rIns="1320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631"/>
              <a:t>1</a:t>
            </a:r>
            <a:r>
              <a:rPr b="0" lang="en" sz="2631"/>
              <a:t>.</a:t>
            </a:r>
            <a:endParaRPr b="0" sz="2631"/>
          </a:p>
        </p:txBody>
      </p:sp>
      <p:sp>
        <p:nvSpPr>
          <p:cNvPr id="905" name="Google Shape;905;p52"/>
          <p:cNvSpPr txBox="1"/>
          <p:nvPr>
            <p:ph idx="4" type="subTitle"/>
          </p:nvPr>
        </p:nvSpPr>
        <p:spPr>
          <a:xfrm>
            <a:off x="2581699" y="4236446"/>
            <a:ext cx="5735700" cy="400200"/>
          </a:xfrm>
          <a:prstGeom prst="rect">
            <a:avLst/>
          </a:prstGeom>
        </p:spPr>
        <p:txBody>
          <a:bodyPr anchorCtr="0" anchor="b" bIns="132025" lIns="132025" spcFirstLastPara="1" rIns="132025" wrap="square" tIns="1320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54"/>
              <a:t>Stochastic Analysis</a:t>
            </a:r>
            <a:endParaRPr sz="2054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53"/>
          <p:cNvSpPr txBox="1"/>
          <p:nvPr>
            <p:ph idx="19" type="title"/>
          </p:nvPr>
        </p:nvSpPr>
        <p:spPr>
          <a:xfrm>
            <a:off x="0" y="109125"/>
            <a:ext cx="3272700" cy="585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Introduction: </a:t>
            </a:r>
            <a:endParaRPr sz="2600"/>
          </a:p>
        </p:txBody>
      </p:sp>
      <p:sp>
        <p:nvSpPr>
          <p:cNvPr id="911" name="Google Shape;911;p53"/>
          <p:cNvSpPr txBox="1"/>
          <p:nvPr/>
        </p:nvSpPr>
        <p:spPr>
          <a:xfrm>
            <a:off x="748650" y="694125"/>
            <a:ext cx="7552800" cy="28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Goal : </a:t>
            </a:r>
            <a:endParaRPr sz="2000"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 want to compare an observational dataset and a reanalysis product to see if originate from similar stochastic processes. 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More specifically, I would like to fit each grid point to a vector autoregressive model with 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exogenous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variables (VARX). 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Then using the model fits at each grid point, I can use a likelihood ratio statistic to see if my two datasets are generated from similar statistical processes. 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2" name="Google Shape;912;p53"/>
          <p:cNvSpPr txBox="1"/>
          <p:nvPr/>
        </p:nvSpPr>
        <p:spPr>
          <a:xfrm>
            <a:off x="748650" y="3717200"/>
            <a:ext cx="6885300" cy="12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u="sng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Hypothesis: </a:t>
            </a:r>
            <a:endParaRPr sz="2000"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 believe that the VARX analysis will show that the reanalysis and observational dataset stem from different statistical processes.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54"/>
          <p:cNvSpPr txBox="1"/>
          <p:nvPr>
            <p:ph idx="19" type="title"/>
          </p:nvPr>
        </p:nvSpPr>
        <p:spPr>
          <a:xfrm>
            <a:off x="0" y="109125"/>
            <a:ext cx="3272700" cy="585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Introduction: </a:t>
            </a:r>
            <a:endParaRPr sz="2600"/>
          </a:p>
        </p:txBody>
      </p:sp>
      <p:sp>
        <p:nvSpPr>
          <p:cNvPr id="918" name="Google Shape;918;p54"/>
          <p:cNvSpPr txBox="1"/>
          <p:nvPr/>
        </p:nvSpPr>
        <p:spPr>
          <a:xfrm>
            <a:off x="1103400" y="575875"/>
            <a:ext cx="74988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Datasets</a:t>
            </a:r>
            <a:r>
              <a:rPr lang="en" sz="1900" u="sng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: </a:t>
            </a:r>
            <a:endParaRPr sz="1900"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762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950"/>
              <a:t>1. ECMWF ERA5 monthly averaged data on single levels from 1940 to present</a:t>
            </a:r>
            <a:endParaRPr sz="95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976D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https://cds.climate.copernicus.eu/datasets/reanalysis-era5-single-levels-monthly-means?tab=overview</a:t>
            </a:r>
            <a:endParaRPr sz="950">
              <a:solidFill>
                <a:srgbClr val="1976D2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Variables: Mean Monthly Precipitation Rate [m/day]</a:t>
            </a:r>
            <a:endParaRPr sz="950"/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Spatial Resolution: 0.5° x 0.5° [721 x 1440]</a:t>
            </a:r>
            <a:endParaRPr sz="950"/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Spatial extent: Global</a:t>
            </a:r>
            <a:endParaRPr sz="950"/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Temporal frequency: Monthly</a:t>
            </a:r>
            <a:endParaRPr sz="950"/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Temporal extent: 1940 to Present</a:t>
            </a:r>
            <a:endParaRPr sz="950"/>
          </a:p>
          <a:p>
            <a:pPr indent="0" lvl="0" marL="7620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950"/>
              <a:t>2. The Global Precipitation Climatology Project (GPCP) Monthly Analysis Product</a:t>
            </a:r>
            <a:endParaRPr sz="950"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1976D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https://psl.noaa.gov/data/gridded/data.gpcp.html</a:t>
            </a:r>
            <a:endParaRPr sz="950">
              <a:solidFill>
                <a:srgbClr val="1976D2"/>
              </a:solidFill>
            </a:endParaRPr>
          </a:p>
          <a:p>
            <a:pPr indent="-288925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Variables: Mean Monthly Precipitation Rate [mm/day]</a:t>
            </a:r>
            <a:endParaRPr sz="950"/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Spatial Resolution: 2.5 degree latitude x 2.5 degree longitude global grid [72 x 144]</a:t>
            </a:r>
            <a:endParaRPr sz="950"/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Spatial extent: Global</a:t>
            </a:r>
            <a:endParaRPr sz="950"/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Temporal frequency: Monthly</a:t>
            </a:r>
            <a:endParaRPr sz="950"/>
          </a:p>
          <a:p>
            <a:pPr indent="-2889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50"/>
              <a:buChar char="●"/>
            </a:pPr>
            <a:r>
              <a:rPr lang="en" sz="950"/>
              <a:t>Temporal extent: 1979 to Present</a:t>
            </a:r>
            <a:endParaRPr sz="95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950"/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9" name="Google Shape;919;p54"/>
          <p:cNvSpPr txBox="1"/>
          <p:nvPr/>
        </p:nvSpPr>
        <p:spPr>
          <a:xfrm>
            <a:off x="79800" y="4020200"/>
            <a:ext cx="8899200" cy="10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Citations:</a:t>
            </a:r>
            <a:endParaRPr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Hersbach, H., Bell, B., Berrisford, P., Biavati, G., Horányi, A., Muñoz Sabater, J., Nicolas, J., Peubey, C., Radu, R., Rozum, I., Schepers, D., Simmons, A., Soci, C., Dee, D., Thépaut, J-N. (2023): ERA5 monthly averaged data on single levels from 1940 to present. Copernicus Climate Change Service (C3S) Climate Data Store (CDS), DOI: 10.24381/cds.f17050d7Links to an external site. (Accessed on 10-09-2025)</a:t>
            </a:r>
            <a:endParaRPr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Adler, R.F., G.J. Huffman, A. Chang, R. Ferraro, P. Xie, J. Janowiak, B. Rudolf, U. Schneider, S. Curtis, D. Bolvin, A. Gruber, J. Susskind, and P. Arkin, 2003: The Version 2 Global Precipitation Climatology Project (GPCP) Monthly Precipitation Analysis (1979-Present). J. Hydrometeor., 4,1147-1167. (Accessed on 10-09-2025)</a:t>
            </a:r>
            <a:endParaRPr sz="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55"/>
          <p:cNvSpPr txBox="1"/>
          <p:nvPr>
            <p:ph idx="19" type="title"/>
          </p:nvPr>
        </p:nvSpPr>
        <p:spPr>
          <a:xfrm>
            <a:off x="0" y="109125"/>
            <a:ext cx="3272700" cy="585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Preparing the Data:</a:t>
            </a:r>
            <a:endParaRPr sz="2600"/>
          </a:p>
        </p:txBody>
      </p:sp>
      <p:sp>
        <p:nvSpPr>
          <p:cNvPr id="925" name="Google Shape;925;p55"/>
          <p:cNvSpPr txBox="1"/>
          <p:nvPr/>
        </p:nvSpPr>
        <p:spPr>
          <a:xfrm>
            <a:off x="738700" y="982700"/>
            <a:ext cx="7870800" cy="3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50000"/>
              </a:lnSpc>
              <a:spcBef>
                <a:spcPts val="1100"/>
              </a:spcBef>
              <a:spcAft>
                <a:spcPts val="0"/>
              </a:spcAft>
              <a:buSzPts val="2400"/>
              <a:buFont typeface="Sora"/>
              <a:buAutoNum type="arabicParenR"/>
            </a:pPr>
            <a:r>
              <a:rPr lang="en" sz="2400">
                <a:latin typeface="Sora"/>
                <a:ea typeface="Sora"/>
                <a:cs typeface="Sora"/>
                <a:sym typeface="Sora"/>
              </a:rPr>
              <a:t>Made sure both datasets cover the same time range</a:t>
            </a:r>
            <a:endParaRPr sz="2400">
              <a:latin typeface="Sora"/>
              <a:ea typeface="Sora"/>
              <a:cs typeface="Sora"/>
              <a:sym typeface="Sor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Sora"/>
              <a:buAutoNum type="arabicParenR"/>
            </a:pPr>
            <a:r>
              <a:rPr lang="en" sz="2400">
                <a:latin typeface="Sora"/>
                <a:ea typeface="Sora"/>
                <a:cs typeface="Sora"/>
                <a:sym typeface="Sora"/>
              </a:rPr>
              <a:t>Convert the units for each dataset to be total accumulated  monthly </a:t>
            </a:r>
            <a:r>
              <a:rPr lang="en" sz="2400">
                <a:latin typeface="Sora"/>
                <a:ea typeface="Sora"/>
                <a:cs typeface="Sora"/>
                <a:sym typeface="Sora"/>
              </a:rPr>
              <a:t>precipitation</a:t>
            </a:r>
            <a:r>
              <a:rPr lang="en" sz="2400">
                <a:latin typeface="Sora"/>
                <a:ea typeface="Sora"/>
                <a:cs typeface="Sora"/>
                <a:sym typeface="Sora"/>
              </a:rPr>
              <a:t> in mm</a:t>
            </a:r>
            <a:endParaRPr sz="2400">
              <a:latin typeface="Sora"/>
              <a:ea typeface="Sora"/>
              <a:cs typeface="Sora"/>
              <a:sym typeface="Sora"/>
            </a:endParaRPr>
          </a:p>
          <a:p>
            <a:pPr indent="-3810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Sora"/>
              <a:buAutoNum type="arabicParenR"/>
            </a:pPr>
            <a:r>
              <a:rPr lang="en" sz="24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ERA5 was much higher resolution, so I made the dataset coarser to match GPCP</a:t>
            </a:r>
            <a:endParaRPr sz="24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56"/>
          <p:cNvSpPr txBox="1"/>
          <p:nvPr>
            <p:ph idx="19" type="title"/>
          </p:nvPr>
        </p:nvSpPr>
        <p:spPr>
          <a:xfrm>
            <a:off x="0" y="1091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</a:t>
            </a:r>
            <a:r>
              <a:rPr lang="en" sz="2400"/>
              <a:t>Autoregressive</a:t>
            </a:r>
            <a:r>
              <a:rPr lang="en" sz="2400"/>
              <a:t> Model with </a:t>
            </a:r>
            <a:r>
              <a:rPr lang="en" sz="2400"/>
              <a:t>Exogenous</a:t>
            </a:r>
            <a:r>
              <a:rPr lang="en" sz="2400"/>
              <a:t> Variables (VARX):</a:t>
            </a:r>
            <a:endParaRPr sz="2400"/>
          </a:p>
        </p:txBody>
      </p:sp>
      <p:pic>
        <p:nvPicPr>
          <p:cNvPr id="931" name="Google Shape;931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25" y="1007800"/>
            <a:ext cx="7315150" cy="447325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56"/>
          <p:cNvSpPr txBox="1"/>
          <p:nvPr/>
        </p:nvSpPr>
        <p:spPr>
          <a:xfrm>
            <a:off x="636900" y="1714625"/>
            <a:ext cx="78702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Constant: Base state/ y-intercept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Y_t-1: The previous timestep of our 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time series</a:t>
            </a: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Annual Cycles: seasonal/annual behavior of our time series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External Forcing: Trends caused by greenhouse gases, volcanic activity, forest fires, etc. 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Noise: Contains the residuals/errors the model was not able to fit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7"/>
          <p:cNvSpPr txBox="1"/>
          <p:nvPr>
            <p:ph idx="19" type="title"/>
          </p:nvPr>
        </p:nvSpPr>
        <p:spPr>
          <a:xfrm>
            <a:off x="0" y="1091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Autoregressive Model with Exogenous Variables (VARX):</a:t>
            </a:r>
            <a:endParaRPr sz="2400"/>
          </a:p>
        </p:txBody>
      </p:sp>
      <p:pic>
        <p:nvPicPr>
          <p:cNvPr id="938" name="Google Shape;938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1438" y="3059800"/>
            <a:ext cx="7361124" cy="203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341" y="618000"/>
            <a:ext cx="8203322" cy="236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3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58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Autoregressive Model with Exogenous Variables (VARX):</a:t>
            </a:r>
            <a:endParaRPr sz="2400"/>
          </a:p>
        </p:txBody>
      </p:sp>
      <p:pic>
        <p:nvPicPr>
          <p:cNvPr id="945" name="Google Shape;94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225" y="596725"/>
            <a:ext cx="5362575" cy="43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59"/>
          <p:cNvSpPr txBox="1"/>
          <p:nvPr>
            <p:ph idx="19" type="title"/>
          </p:nvPr>
        </p:nvSpPr>
        <p:spPr>
          <a:xfrm>
            <a:off x="0" y="1091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Autoregressive Model with Exogenous Variables (VARX):</a:t>
            </a:r>
            <a:endParaRPr sz="2400"/>
          </a:p>
        </p:txBody>
      </p:sp>
      <p:pic>
        <p:nvPicPr>
          <p:cNvPr id="951" name="Google Shape;951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425" y="1007800"/>
            <a:ext cx="7315150" cy="447325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59"/>
          <p:cNvSpPr txBox="1"/>
          <p:nvPr/>
        </p:nvSpPr>
        <p:spPr>
          <a:xfrm>
            <a:off x="606150" y="1738950"/>
            <a:ext cx="7870200" cy="31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16 Total Regressors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 a Z matrix containing all the regressors that can be fed into the Ordinary Least Squares Solver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ra"/>
              <a:buChar char="-"/>
            </a:pPr>
            <a:r>
              <a:rPr lang="en" sz="18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Note, we skip the first value for Yt and omit the end values of our Z matrix</a:t>
            </a:r>
            <a:endParaRPr sz="18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53" name="Google Shape;953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5625" y="4045075"/>
            <a:ext cx="1923425" cy="666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5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8413" y="4045075"/>
            <a:ext cx="2746091" cy="63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0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Autoregressive Model with Exogenous Variables (VARX):</a:t>
            </a:r>
            <a:endParaRPr sz="2400"/>
          </a:p>
        </p:txBody>
      </p:sp>
      <p:pic>
        <p:nvPicPr>
          <p:cNvPr id="960" name="Google Shape;96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84875" y="596725"/>
            <a:ext cx="5362575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200" y="642675"/>
            <a:ext cx="3042581" cy="424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61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Autoregressive Model with Exogenous Variables (VARX):</a:t>
            </a:r>
            <a:endParaRPr sz="2400"/>
          </a:p>
        </p:txBody>
      </p:sp>
      <p:pic>
        <p:nvPicPr>
          <p:cNvPr id="967" name="Google Shape;96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34538" y="883350"/>
            <a:ext cx="4794325" cy="3800375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61"/>
          <p:cNvSpPr txBox="1"/>
          <p:nvPr/>
        </p:nvSpPr>
        <p:spPr>
          <a:xfrm>
            <a:off x="461900" y="1430225"/>
            <a:ext cx="3314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Potential Question?:</a:t>
            </a:r>
            <a:endParaRPr sz="1600"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What if we remove the climatology from our time series. Will the VARX 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model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 still fit annual cycle coefficients?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62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Autoregressive Model with Exogenous Variables (VARX):</a:t>
            </a:r>
            <a:endParaRPr sz="2400"/>
          </a:p>
        </p:txBody>
      </p:sp>
      <p:pic>
        <p:nvPicPr>
          <p:cNvPr id="974" name="Google Shape;974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4875" y="596725"/>
            <a:ext cx="54673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975" y="642675"/>
            <a:ext cx="2952486" cy="424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9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3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Autoregressive Model with Exogenous Variables (VARX):</a:t>
            </a:r>
            <a:endParaRPr sz="2400"/>
          </a:p>
        </p:txBody>
      </p:sp>
      <p:sp>
        <p:nvSpPr>
          <p:cNvPr id="981" name="Google Shape;981;p63"/>
          <p:cNvSpPr txBox="1"/>
          <p:nvPr/>
        </p:nvSpPr>
        <p:spPr>
          <a:xfrm>
            <a:off x="513625" y="750350"/>
            <a:ext cx="7741200" cy="3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Procedure:</a:t>
            </a:r>
            <a:endParaRPr sz="1600"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Extract the time series for each grid point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Define a Z </a:t>
            </a: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matrix with all the regressors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●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 and run the OLS fit and store the results in a separate matrix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4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Vector Autoregressive Model with Exogenous Variables (VARX):</a:t>
            </a:r>
            <a:endParaRPr sz="2400"/>
          </a:p>
        </p:txBody>
      </p:sp>
      <p:pic>
        <p:nvPicPr>
          <p:cNvPr id="987" name="Google Shape;98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7575" y="596725"/>
            <a:ext cx="6126574" cy="449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65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Stochastic Analysis:</a:t>
            </a:r>
            <a:endParaRPr sz="2400"/>
          </a:p>
        </p:txBody>
      </p:sp>
      <p:pic>
        <p:nvPicPr>
          <p:cNvPr id="993" name="Google Shape;99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11575" y="1801500"/>
            <a:ext cx="22764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65"/>
          <p:cNvSpPr txBox="1"/>
          <p:nvPr/>
        </p:nvSpPr>
        <p:spPr>
          <a:xfrm>
            <a:off x="1958375" y="1121700"/>
            <a:ext cx="50178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Maximized Log-likelihood Ratio Test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95" name="Google Shape;995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1013" y="4222000"/>
            <a:ext cx="3895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6" name="Google Shape;996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2375" y="4222000"/>
            <a:ext cx="34099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7" name="Google Shape;997;p6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35350" y="3049850"/>
            <a:ext cx="282892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66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Stochastic Analysis:</a:t>
            </a:r>
            <a:endParaRPr sz="2400"/>
          </a:p>
        </p:txBody>
      </p:sp>
      <p:sp>
        <p:nvSpPr>
          <p:cNvPr id="1003" name="Google Shape;1003;p66"/>
          <p:cNvSpPr txBox="1"/>
          <p:nvPr/>
        </p:nvSpPr>
        <p:spPr>
          <a:xfrm>
            <a:off x="1958375" y="1121700"/>
            <a:ext cx="50178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Maximized Log-likelihood Ratio Test</a:t>
            </a:r>
            <a:endParaRPr sz="20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04" name="Google Shape;1004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125" y="3955975"/>
            <a:ext cx="3895725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6450" y="2424750"/>
            <a:ext cx="4991100" cy="81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67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Stochastic Analysis:</a:t>
            </a:r>
            <a:endParaRPr sz="2400"/>
          </a:p>
        </p:txBody>
      </p:sp>
      <p:pic>
        <p:nvPicPr>
          <p:cNvPr id="1011" name="Google Shape;101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9925" y="1210850"/>
            <a:ext cx="4835900" cy="379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2" name="Google Shape;1012;p67"/>
          <p:cNvSpPr txBox="1"/>
          <p:nvPr/>
        </p:nvSpPr>
        <p:spPr>
          <a:xfrm>
            <a:off x="3687275" y="712388"/>
            <a:ext cx="4101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Sad Plot 😔</a:t>
            </a:r>
            <a:endParaRPr sz="2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68"/>
          <p:cNvSpPr txBox="1"/>
          <p:nvPr>
            <p:ph idx="19" type="title"/>
          </p:nvPr>
        </p:nvSpPr>
        <p:spPr>
          <a:xfrm>
            <a:off x="30750" y="42625"/>
            <a:ext cx="9082500" cy="554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Conclusion: </a:t>
            </a:r>
            <a:endParaRPr sz="2400"/>
          </a:p>
        </p:txBody>
      </p:sp>
      <p:sp>
        <p:nvSpPr>
          <p:cNvPr id="1018" name="Google Shape;1018;p68"/>
          <p:cNvSpPr txBox="1"/>
          <p:nvPr/>
        </p:nvSpPr>
        <p:spPr>
          <a:xfrm>
            <a:off x="628150" y="724225"/>
            <a:ext cx="7922100" cy="400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❖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VARX Model can fit observational and reanalysis data fairly well. (May exclude extreme values/ smooths out spikes).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❖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Using the VARX Model, we were able to apply the Maximized Log-likelihood to show that both datasets are generated by different statistical processes.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Sora"/>
              <a:buChar char="❖"/>
            </a:pPr>
            <a:r>
              <a:rPr lang="en" sz="16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May be a good candidate for quickly comparing the statistic of two different datasets.</a:t>
            </a:r>
            <a:endParaRPr sz="16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3" name="Google Shape;102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88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